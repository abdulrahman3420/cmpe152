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C++ Compiler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152 — Compiler Design  |  Dr. Vidhyacharan Bhaskar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743200"/>
            <a:ext cx="3291840" cy="137160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2788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152 — Spring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443484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Lexer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443484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Parser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443484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443484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IR Codegen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43484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Assembly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443484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Interpreter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Source Code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Blocks A–D: Lexer, Parser, Codegen, Interpreter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0292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1440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Internal Operation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173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Tokens, Parse Trees, DFA/NFA, CFG, CNF, GNF, Assembly, Dataflow,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50292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83464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337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Limitations, algorithms, data structures, how to run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50292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83464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337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3 test programs: arithmetic, floats/bools, error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SOURCE CODE — Architecture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 A  —  lexer.cpp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Tokenizes source code character-by-character. Uses advance(), peek(), skipWhitespace(). Classifies every token by type.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 B  —  parser.cpp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Recursive descent parser. Builds AST nodes: VarDecl, BinOp, Comparison, If, Print, Return. Reports line-numbered errors.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41148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 C  —  codegen.cpp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Walks AST → emits 3-address IR and x86-64 assembly. Generates temporaries (t0, t1…) and labels (L0, L1…).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41148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 D  —  interpreter.cpp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246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Evaluates AST directly. Maintains symbol table (variable→value). Handles arithmetic, comparisons, if/else, print.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INTERNAL OPERATION — Token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41732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19072" y="10972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719072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822960"/>
            <a:ext cx="141732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822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peek()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56432" y="10972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822960"/>
            <a:ext cx="141732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822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skipWhitespace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skipComment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93792" y="10972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193792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822960"/>
            <a:ext cx="1417320" cy="8229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822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classify()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char type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31152" y="10972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822960"/>
            <a:ext cx="1417320" cy="82296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822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874520"/>
            <a:ext cx="8595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1874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         |  Examples from int a = 10; cout &lt;&lt; a + b * 2 &lt;&lt; endl;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231136"/>
            <a:ext cx="8595360" cy="4846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231136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Keywords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2231136"/>
            <a:ext cx="6858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int, float, bool, if, else, cout, endl, return, true, false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34056"/>
            <a:ext cx="859536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734056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Identifiers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2734056"/>
            <a:ext cx="6858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c, x, sum, product, isPositive  (variable / function names)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236976"/>
            <a:ext cx="8595360" cy="4846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36976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Operators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3236976"/>
            <a:ext cx="6858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−  *  /  %  =  ==  !=  &lt;  &gt;  &lt;=  &gt;=  &amp;&amp;  ||  !  ++  −−  &lt;&lt;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39896"/>
            <a:ext cx="859536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739896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Punctuation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3739896"/>
            <a:ext cx="6858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 )  {  }  ;  ,  #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42816"/>
            <a:ext cx="8595360" cy="4846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242816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Literals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20240" y="4242816"/>
            <a:ext cx="6858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20  3.5  1.5  "hello"  true  false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Regular Language, Expressions &amp; Finite Automata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Regular Expressions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Identifier:  [a-zA-Z_][a-zA-Z0-9_]*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Integer:     [0-9]+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Float:       [0-9]+\.[0-9]+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980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Keyword:     int|float|bool|if|else|...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3284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Operator:    +|-|*|/|%|==|!=|&lt;=|&gt;=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587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Whitespace:  [ \t\n\r]+  (skipped)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DFA — Identifier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417320"/>
            <a:ext cx="822960" cy="685800"/>
          </a:xfrm>
          <a:prstGeom prst="ellipse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173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</a:rPr>
              <a:t>q0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</a:rPr>
              <a:t>start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822960" cy="68580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173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</a:rPr>
              <a:t>accept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0" y="2743200"/>
            <a:ext cx="822960" cy="68580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432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2828"/>
                </a:solidFill>
              </a:rPr>
              <a:t>q2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62828"/>
                </a:solidFill>
              </a:rPr>
              <a:t>reject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737360"/>
            <a:ext cx="6400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481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[a-zA-Z_]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812280" y="2103120"/>
            <a:ext cx="0" cy="64008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1945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[a-zA-Z0-9_]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760720" y="1783080"/>
            <a:ext cx="0" cy="132588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108960"/>
            <a:ext cx="64008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2828"/>
                </a:solidFill>
              </a:rPr>
              <a:t>other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069080" cy="105156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61188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</a:rPr>
              <a:t>NFA vs DFA: </a:t>
            </a:r>
            <a:pPr indent="0" marL="0">
              <a:buNone/>
            </a:pPr>
            <a:r>
              <a:rPr lang="en-US" sz="900" dirty="0">
                <a:solidFill>
                  <a:srgbClr val="4A148C"/>
                </a:solidFill>
              </a:rPr>
              <a:t>Our lexer uses NFA-style patterns (regex) internally, then simulates acceptance. NFA allows ε-transitions; DFA is deterministic. Both accept the same regular languages.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Parsing &amp; Abstract Syntax Trees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✓ Good Parse — int a = 10 + b * 2;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188720"/>
            <a:ext cx="68580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1887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=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685800" cy="36576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737360"/>
            <a:ext cx="685800" cy="36576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7373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286000"/>
            <a:ext cx="640080" cy="3474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86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286000"/>
            <a:ext cx="640080" cy="3474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286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*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1554480"/>
            <a:ext cx="-1097280" cy="18288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7712" y="1554480"/>
            <a:ext cx="0" cy="18288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2103120"/>
            <a:ext cx="-594360" cy="182880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2103120"/>
            <a:ext cx="640080" cy="182880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777240"/>
            <a:ext cx="4206240" cy="10058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</a:rPr>
              <a:t>✗ Bad Parse — int a = 10 + b * 2  (missing ;)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Line 5: Expected ';' after variable declaration (got 'int')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8595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Left vs Right Derivation — Expr: a + b *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4023360" cy="14630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Left Derivation (Left-most):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5387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→ Expr + Term → a + Term → a + Term * Factor → a + b *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218688"/>
            <a:ext cx="4023360" cy="1463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Right Derivation (Right-most):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5387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→ Expr + Term → Expr + Term * Factor → Expr + b * 2 → a + b *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Context-Free Grammar &amp; Context-Free Language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Grammar Definition  G = (V, Σ, R, 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=  { S, Stmt, Expr, Term, Factor, Type, Id 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7282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 =  { int, float, bool, if, else, cout, endl,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494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=, +, -, *, /, %, ==, !=, &lt;, &gt;, &lt;=, &gt;=,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7706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(, ), {, }, ;, &lt;&lt; , identifiers, literals 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=  start symbol  (Program)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8130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production rules (see right panel)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 Rules (simplified)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2070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 →  Stmt*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     →  VarDecl | Assign | If | Print | Return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19019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VarDecl  →  Type Id = Expr 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22494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  →  Id = Expr 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25968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    →  if ( Expr ) Block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944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 if ( Expr ) Block else Block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   →  { Stmt* }  |  Stmt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    →  Expr + Term | Expr - Term | Term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39867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    →  Term * Factor | Term / Factor | Factor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43342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   →  ( Expr ) | Id | Literal | true | false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46817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   →  int | float | bool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Chomsky Normal Form (CNF) &amp; Greibach Normal Form (GNF)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Chomsky Normal Form (CNF)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rule must have form: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→ BC  (two non-terminals)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→ a   (one terminal)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 → ε   (only start symbol)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596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from our grammar: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 → Expr_Plus Term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Expr_Plus → Expr PLUS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9867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PLUS → 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334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 → Term_Mul Factor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Term_Mul → Term STAR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5029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 → *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Greibach Normal Form (GNF)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2070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rule must have form: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→ a B1 B2 ... Bn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9019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(terminal followed by non-terminals)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2494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ε except S → ε (start)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5968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944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from our grammar: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 → id Expr_Rest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 → num Expr_Rest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9867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Expr_Rest → + Term Expr_Rest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3342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Expr_Rest → - Term Expr_Rest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6817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Expr_Rest → 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5029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 → * Factor Term_Rest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Assembly Code Generation (x86-64 like)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3-Address IR (Intermediate)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declare int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624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t0 = 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5636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t0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declare int 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t1 = 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1671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= t1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3682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declare int 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9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t2 = 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770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t3 = 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t4 =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172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t5 = t3 * t4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374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t6 = t2 + t5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5753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t6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3776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t10 = 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t11 = 50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1788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t12 = t10 &gt;= t11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3799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t12 == 0 goto L0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5811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206240" cy="4069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x86-64 Assembly 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161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main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15636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 rbp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17647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rbp, rsp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19659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declare int 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2167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rax, 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23682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[a], rax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5694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rax, 20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7706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[b], rax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2971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rax, [b]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172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imul rax, 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3374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[t5], rax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5753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rax, [a]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77647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rax, [t5]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39776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[c], rax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41788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rax, [t11]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3799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setge 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45811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jz L0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47823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49834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Dataflow Analysis &amp; Memory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Dataflow Analysis — Test Case 1: int c = a + b * 2  →  if (c &gt;= 50)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554480" cy="11887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1554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a=10, b=20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9019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Variables declared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and initialized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92224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1261872"/>
            <a:ext cx="1554480" cy="11887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261872"/>
            <a:ext cx="1554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993392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3392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+ b*2 =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93392" y="19019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Arithmetic evaluated,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c computed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11296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12464" y="1261872"/>
            <a:ext cx="1554480" cy="11887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1261872"/>
            <a:ext cx="1554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712464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12464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&gt;= 50  → TRUE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2464" y="19019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Comparison resolved,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branch taken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30368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31536" y="1261872"/>
            <a:ext cx="1554480" cy="11887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31536" y="1261872"/>
            <a:ext cx="1554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31536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Step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31536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 - 5 = 45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31536" y="19019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If-body executes,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c updated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49440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50608" y="1261872"/>
            <a:ext cx="1554480" cy="11887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50608" y="1261872"/>
            <a:ext cx="1554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150608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Step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50608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c → 45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0608" y="19019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Final value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55"/>
                </a:solidFill>
              </a:rPr>
              <a:t>to console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26060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 Management — Symbol Table &amp; Complexity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999232"/>
            <a:ext cx="859536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99923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Symbol Table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2999232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std::unordered_map&lt;string, Value&gt;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299923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Lookup O(1) avg · Insert O(1) avg · Delete O(1) avg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410712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41071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Variant (Value)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03120" y="3410712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std::variant&lt;double, bool, string&gt;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0" y="341071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No heap alloc · Type-safe at runtime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822192"/>
            <a:ext cx="859536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382219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AST Nodes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03120" y="3822192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std::unique_ptr&lt;ASTNode&gt; tree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37760" y="382219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Stack for small nodes · Heap via unique_ptr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4233672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23367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Token Stream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4233672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std::vector&lt;Token&gt;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423367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O(n) memory · n = number of tokens in source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645152"/>
            <a:ext cx="859536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64515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Code Output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03120" y="4645152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std::ostringstream IR + ASM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0" y="464515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O(n) string building for intermediate/assembly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ANALYSIS — Limitations &amp; How to Run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Compile &amp; Run: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 the compiler (requires g++ with C++17)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-std=c++17 -o compiler src/main.cpp src/lexer.cpp src/parser.cpp src/interpreter.cpp src/codegen.cpp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093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 any C++ source 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./compiler test1.cpp          # Shows: tokens, AST, IR, assembly, execution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859536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450592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50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Language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45059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 loops (for/while) · No functions/calls · No arrays or pointers · No struct/class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53512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953512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535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Operators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95351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 operator precedence beyond +−  vs  */  · No ternary · No bitwise ops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56432"/>
            <a:ext cx="859536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456432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4564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Types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345643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 type checking (no int+string error) · No type conversion (implicit cast)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959352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9593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Assembly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395935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Pseudo x86-64, not executable · No register spilling · No stack frame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4462272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4622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Scoping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446227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Global scope only · No block-level scoping · No shadowed variables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CASE 1 — Arithmetic &amp; If/Else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test1.cpp — Source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a = 10;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1214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b = 20;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322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c = a + b * 2;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5237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"Result = " &lt;&lt; c &lt;&lt; endl;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7249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 &gt;= 50) {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 - 5;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127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"After adj: " &lt;&lt; c &lt;&lt; endl;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3284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"c &lt; 50" &lt;&lt; endl;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730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133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0624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804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11556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of a + b * 2 = 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after adjustment: 45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697480"/>
            <a:ext cx="42062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697480"/>
            <a:ext cx="42062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Symbol Table — Final State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20624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17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Variable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0175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Value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47288"/>
            <a:ext cx="4206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4472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44728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447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877056"/>
            <a:ext cx="420624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8770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0" y="387705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38770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306824"/>
            <a:ext cx="4206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30682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52160" y="430682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0" y="4306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(was 50, decremented by 5)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CASE 2 — Floats, Booleans, Multiple Print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test2.cpp — Source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x = 3.5;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y = 1.5;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322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sum = x + y;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237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product = x * y;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7249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isPositive = true;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"x = " &lt;&lt; x &lt;&lt; endl;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"y = " &lt;&lt; y &lt;&lt; endl;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3284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"sum = " &lt;&lt; sum &lt;&lt; endl;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"product = " &lt;&lt; product &lt;&lt; endl;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3730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(isPositive)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"All positive" &lt;&lt; endl;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133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3342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5354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206240" cy="22860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804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Output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11556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1.5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5.25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values are positive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1546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154680"/>
            <a:ext cx="42062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Symbol Table — Final State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493008"/>
            <a:ext cx="420624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930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26480" y="34930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40880" y="3493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758184"/>
            <a:ext cx="4206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7581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26480" y="3758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40880" y="3758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4023360"/>
            <a:ext cx="420624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023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6480" y="40233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40880" y="4023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4288536"/>
            <a:ext cx="4206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288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26480" y="42885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40880" y="4288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553712"/>
            <a:ext cx="420624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45537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isPositive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26480" y="4553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040880" y="4553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CASE 3 — Error Detection (Missing Semicolons)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26517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test3_error.cpp — Source Code (has bugs)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 = 5         // ← MISSING 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 = a + 10;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"b = " &lt;&lt; b &lt;&lt; endl  // ← MISSING 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114800" cy="13258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0440"/>
            <a:ext cx="4114800" cy="3200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Errors Detected by Compiler: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7705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Line 5: Expected ';' after variable declaration (got 'int')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Line 7: Expected ';' after cout statement (got 'return')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errors: 2 — Compilation FAILED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Error Recovery Works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170432"/>
            <a:ext cx="4114800" cy="438912"/>
          </a:xfrm>
          <a:prstGeom prst="rect">
            <a:avLst/>
          </a:prstGeom>
          <a:solidFill>
            <a:srgbClr val="FF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17043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1. Lexer runs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11704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Tokenizes ALL source code even with errors. Produces full token stream.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6459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645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2. Parser sees token mismatch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16459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Expects SEMICOLON at end of 'int a = 5', gets KW_INT instead.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121408"/>
            <a:ext cx="4114800" cy="438912"/>
          </a:xfrm>
          <a:prstGeom prst="rect">
            <a:avLst/>
          </a:prstGeom>
          <a:solidFill>
            <a:srgbClr val="FFF7F7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12140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3. Error logged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1214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Line number + message stored in ParseError vector.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596896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5968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4. syncToNextStatement()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25968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Parser skips ahead to next ';' or '}' to recover and continue.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072384"/>
            <a:ext cx="4114800" cy="438912"/>
          </a:xfrm>
          <a:prstGeom prst="rect">
            <a:avLst/>
          </a:prstGeom>
          <a:solidFill>
            <a:srgbClr val="FFF7F7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0723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5. Partial AST built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30723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Parser shows the AST it could construct despite the errors.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547872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5478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6. Codegen blocked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35478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Assembly &amp; IR generation skipped entirely if any errors found.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Questions &amp;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26517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2644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Lexer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Tokenizes C++ into classified tokens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20440" y="3246120"/>
            <a:ext cx="26517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32644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Parser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Builds AST with error recovery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0" y="3246120"/>
            <a:ext cx="26517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2644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CFG/CNF/GNF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Formal grammar for C++ subset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26517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24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IR Codegen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3-address intermediate code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20440" y="4206240"/>
            <a:ext cx="26517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4224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Assembly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x86-64 style target code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4206240"/>
            <a:ext cx="26517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224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Interpreter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AST-walking execution engine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C++ Compiler - CMPE 152</dc:title>
  <dc:subject>PptxGenJS Presentation</dc:subject>
  <dc:creator>PptxGenJS</dc:creator>
  <cp:lastModifiedBy>PptxGenJS</cp:lastModifiedBy>
  <cp:revision>1</cp:revision>
  <dcterms:created xsi:type="dcterms:W3CDTF">2026-04-27T00:51:25Z</dcterms:created>
  <dcterms:modified xsi:type="dcterms:W3CDTF">2026-04-27T00:51:25Z</dcterms:modified>
</cp:coreProperties>
</file>